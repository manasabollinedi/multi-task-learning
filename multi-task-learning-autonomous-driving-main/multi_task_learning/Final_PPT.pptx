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Inter-bold.fntdata"/><Relationship Id="rId10" Type="http://schemas.openxmlformats.org/officeDocument/2006/relationships/slide" Target="slides/slide5.xml"/><Relationship Id="rId21" Type="http://schemas.openxmlformats.org/officeDocument/2006/relationships/font" Target="fonts/Inter-regular.fntdata"/><Relationship Id="rId13" Type="http://schemas.openxmlformats.org/officeDocument/2006/relationships/slide" Target="slides/slide8.xml"/><Relationship Id="rId24" Type="http://schemas.openxmlformats.org/officeDocument/2006/relationships/font" Target="fonts/Inter-boldItalic.fntdata"/><Relationship Id="rId12" Type="http://schemas.openxmlformats.org/officeDocument/2006/relationships/slide" Target="slides/slide7.xml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150739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Multi-Task Learning for Autonomous Driving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036689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Object Detection | Lane Detection | Traffic Sign Classification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64359"/>
            <a:ext cx="110490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Team Members: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Jaya Bharathi Sanjay (11836257)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Jaikishan Manivannan (11846539)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Manasa Bollinedi (11804584)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Sneha Varra (11834552)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Problem: Autonomous vehicles need REAL-TIME perception of multiple tasks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1431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Traditional Approach Issues: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Research Hypothesis: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192405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Can a SINGLE unified network efficiently handle 3 autonomous driving tasks while achieving BETTER parameter efficiency &amp; COMPETITIVE performance?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14375" y="25326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253365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Separate models for each task (3+ models)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14375" y="29022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290319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Redundant computation: 95M+ total parameters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32717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327273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Slow inference: Multiple forward passes (3×)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36413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09625" y="364227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 memory footprint for deployment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1. PROBLEM DEFINITION &amp; HYPOTHESIS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Architecture: Hard Parameter Sharing with ResNet50 Backbone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431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Backbone: ResNet50 (Pre-trained ImageNet)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327273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Task-Specific Heads: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34125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Total Model: 70.2M parameters | 106MB checkpoint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334125" y="2143125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Savings: 26% fewer parameters vs 3 separate models (95M+)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14375" y="25326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253365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23.5M shared parameters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14375" y="29022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09625" y="290319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Feature extraction at 1/32 resolution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714375" y="36623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09625" y="36632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Classification Head: 43-class traffic signs (2.0M params)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14375" y="40318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09625" y="40327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Detection Head: RPN-based object localization (1.2M params)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14375" y="44013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09625" y="440233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Lane Head: U-Net binary segmentation (850K params)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2. METHODOLOGY OVERVIEW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1409700"/>
            <a:ext cx="3600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Optimizer: Adam (lr=1e-4, weight decay=1e-5)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047875"/>
            <a:ext cx="3600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Scheduler: Cosine Annealing with warm restarts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686050"/>
            <a:ext cx="3600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Batch Size: 4 | Gradient Clipping: 1.0 norm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3324225"/>
            <a:ext cx="3600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Epochs Completed: 5 of 50 planned (CPU training)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381500" y="1409700"/>
            <a:ext cx="3600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Datasets: ~50K Images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191500" y="1409700"/>
            <a:ext cx="3600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Loss Function: Weighted multi-task loss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191500" y="2076450"/>
            <a:ext cx="342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L_total = w_cls × L_cls + w_det × L_det + w_lane × L_lane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524375" y="17992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619625" y="1800225"/>
            <a:ext cx="3190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GTSRB: 39,209 images (43 traffic sign classes) | 78% of data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524375" y="24431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19625" y="2444055"/>
            <a:ext cx="3190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KITTI: 7,481 images (7 object classes) | 12% of data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524375" y="30869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619625" y="3087885"/>
            <a:ext cx="31908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TuSimple: 500 synthetic lane images | 0.8% of data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3. TRAINING SETUP &amp; CONFIGURATION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1504950"/>
            <a:ext cx="555069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Loss Convergence: 78.5% reduction (3.31 → 0.71) across 5 epochs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21526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Classification Performance (GTSRB):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Object Detection (KITTI):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334125" y="263455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Parameter Efficiency: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14375" y="25422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09625" y="25431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Training Accuracy: 99.98% | Validation: 100.0%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14375" y="29117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09625" y="29127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Precision/Recall/F1: 100% | Generalization Gap: 0.02%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14375" y="32813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09625" y="32822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Per-Class Accuracy: 100% on all 43 traffic sign types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RPN: Fully Functional | Classification: Working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Bbox Regression: Operational | 7,481 images processed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477000" y="30241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72250" y="302508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26% parameter reduction | 3× faster inference | 71% size reduction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4. KEY RESULTS - MAIN ACHIEVEMENTS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Epoch-by-Epoch Progression: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Key Observations: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14375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09625" y="189547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Epoch 1: Loss 3.31 | Acc 19.75% → Cold start (random weights)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14375" y="25383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09625" y="253930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Epoch 2: Loss ~2.6 | Acc 35-50% → Rapid learning (-20% loss)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14375" y="31821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9625" y="318313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Epoch 3: Loss ~1.7 | Acc 73-81% → Strong improvement (-35% loss)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14375" y="382601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09625" y="382696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Epoch 4: Loss ~1.3 | Acc 83-86% → Refinement phase (-24% loss)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714375" y="4469844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09625" y="447079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Epoch 5: Loss 0.71 | Acc 99.98% → Convergence achieved (-45% loss)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Consistent loss reduction across all epochs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572250" y="226501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Training/validation curves near-perfectly aligned (no overfitting)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477000" y="290789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72250" y="290884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&lt;2% batch variance in final epoch (excellent stability)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477000" y="32774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572250" y="327838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Converged well before 50-epoch target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5. TRAINING DYNAMICS - CONVERGENCE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Classification Performance Breakdown (43 Traffic Sign Classes):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2171700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100% accuracy on ALL 43 classes: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Statistical Significance: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14375" y="261648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09625" y="261744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Speed Limit signs (8 variants: 20-120 km/h)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14375" y="29860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09625" y="29869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Stop &amp; Yield signs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714375" y="33555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09625" y="335652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Warning signs (18 categories: pedestrians, curves, etc.)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714375" y="37251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09625" y="372606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Information &amp; Mandatory action signs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Zero class confusion observed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Balanced performance across all types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Handles class imbalance effectively through weighted loss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477000" y="3003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572250" y="30040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Similar sign shapes distinguished perfectly (30 vs 50 km/h)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6. STATISTICAL FINDINGS - PER-CLASS ANALYSIS</a:t>
            </a:r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Parameter Efficiency Achieved: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71500" y="263455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Memory &amp; Speed Benefits: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Regularization Effect: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334125" y="300409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Feature Sharing Validation: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714375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809625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Our MTL Model: 70.2M params | Separate Models: 95M+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14375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809625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Savings: 24.8M parameters (26% reduction)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714375" y="30241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09625" y="30250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 Size: 106MB vs 360MB+ (-71%)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14375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809625" y="339462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Inference: Single forward pass vs 3 separate passes (3× faster)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14375" y="40374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809625" y="4038451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Training: Shared backbone reduces gradient computation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Tasks act as implicit regularizers for each other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 catastrophic forgetting observed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All 3 tasks improve consistently across epochs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6477000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572250" y="339462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Backbone learns features useful for ALL tasks simultaneously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7. MULTI-TASK LEARNING BENEFITS</a:t>
            </a:r>
            <a:endParaRPr/>
          </a:p>
        </p:txBody>
      </p:sp>
      <p:sp>
        <p:nvSpPr>
          <p:cNvPr id="253" name="Google Shape;253;p20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Dataset Distribution (Total: ~50K images)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71500" y="1895475"/>
            <a:ext cx="555069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GTSRB (Classification): 39,209 images → 78% of training data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571500" y="3282255"/>
            <a:ext cx="555069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KITTI (Detection): 7,481 images → 12% of training data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571500" y="4669035"/>
            <a:ext cx="555069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TuSimple (Lane Detection): 500 images → 0.8% of training data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Impact on Training: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714375" y="25422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09625" y="25431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43 traffic sign classes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714375" y="29117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09625" y="29127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Diverse lighting/angles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14375" y="39290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09625" y="39299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41,705 bounding box annotations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14375" y="42985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809625" y="42994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 object classes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714375" y="531578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809625" y="531673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Binary lane segmentation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714375" y="56853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09625" y="5686276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Synthetically generated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Gradient flow proportional to dataset sizes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Classification receives ~78% of updates (dominates)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Lane detection severely under-represented (0.8%)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8. DATA COMPOSITION &amp; IMBALANCE</a:t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571500" y="1504950"/>
            <a:ext cx="97812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Parameter Count Comparison: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571500" y="1895475"/>
            <a:ext cx="978122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Multi-Task Learning (This Work):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71500" y="2314575"/>
            <a:ext cx="9315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Shared ResNet50: 23.5M (used 3×) Detection Head: 1.2M Lane Head: 850K Classification Head: 2.0M Total: 70.2M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10363200" y="1504950"/>
            <a:ext cx="1828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Separate Models (Baseline):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10363200" y="1924050"/>
            <a:ext cx="1828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 × ResNet50: 70.5M (3 independent copies) + Task-specific heads: 4.05M Total: 95M+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10363200" y="2369790"/>
            <a:ext cx="1828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Efficiency Gain: 26% parameter reduction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10363200" y="2760315"/>
            <a:ext cx="18288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Inference Speed: 3× faster (single pass vs 3 passes)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9. EFFICIENCY COMPARISON: MTL vs BASELINE</a:t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3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Training Stability Metrics: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Convergence Status: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334125" y="300409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Interpretation: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714375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809625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Batch-level variance: ±1.5% in final epoch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714375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809625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 NaN/Inf issues during 6.8 hours of training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714375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809625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Validation loss &lt; Training loss (excellent regularization)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714375" y="3003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09625" y="30040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Generalization gap: 0.02% (near-zero overfitting)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 converged by epoch 5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Loss plateau approaching (diminishing returns)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78.5% loss reduction (3.31 → 0.71)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6477000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6572250" y="3394620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Model achieved stable convergence with significant headroom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477000" y="40374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572250" y="4038451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Extended training (50 epochs) would improve undertrained tasks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477000" y="4681329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572250" y="4682281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Current results demonstrate sound multi-task gradient flow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10. CONVERGENCE &amp; STABILITY ANALYSIS</a:t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 txBox="1"/>
          <p:nvPr/>
        </p:nvSpPr>
        <p:spPr>
          <a:xfrm>
            <a:off x="571500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Finding 1: Multi-Task Learning is EFFECTIVE for Autonomous Driving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571500" y="3156495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Finding 2: Data Imbalance is the PRIMARY Bottleneck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6334125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Finding 3: Parameter Sharing Delivers Real Efficiency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6334125" y="288220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Finding 4: Early Convergence with Headroom</a:t>
            </a:r>
            <a:endParaRPr/>
          </a:p>
        </p:txBody>
      </p:sp>
      <p:sp>
        <p:nvSpPr>
          <p:cNvPr id="337" name="Google Shape;337;p24"/>
          <p:cNvSpPr txBox="1"/>
          <p:nvPr/>
        </p:nvSpPr>
        <p:spPr>
          <a:xfrm>
            <a:off x="714375" y="21421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8" name="Google Shape;338;p24"/>
          <p:cNvSpPr txBox="1"/>
          <p:nvPr/>
        </p:nvSpPr>
        <p:spPr>
          <a:xfrm>
            <a:off x="809625" y="214312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Shared backbone successfully learns features for all 3 tasks</a:t>
            </a:r>
            <a:endParaRPr/>
          </a:p>
        </p:txBody>
      </p:sp>
      <p:sp>
        <p:nvSpPr>
          <p:cNvPr id="339" name="Google Shape;339;p24"/>
          <p:cNvSpPr txBox="1"/>
          <p:nvPr/>
        </p:nvSpPr>
        <p:spPr>
          <a:xfrm>
            <a:off x="714375" y="27860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809625" y="278695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No catastrophic forgetting observed across tasks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714375" y="37937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809625" y="379467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Classification: 100% accuracy (78% of data)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714375" y="41632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809625" y="416421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Lane Detection: Undertrained (0.8% of data)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714375" y="453279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809625" y="4533751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Solution: Loss weight rebalancing (w_lane=30-50)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6477000" y="214217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6572250" y="214312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26% parameter reduction is NOT theoretical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6477000" y="251171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6572250" y="2512665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3× faster inference enables real-time deployment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6477000" y="32717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6572250" y="327273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Converged at epoch 5 of 50 planned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6477000" y="36413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6572250" y="364227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Significant room for task-specific improvement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11. LESSONS LEARNED &amp; KEY INSIGHTS</a:t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Address Data Imbalance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571500" y="263455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Extend Training &amp; GPU Acceleration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Advanced Techniques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714375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809625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Rebalance loss weights: w_cls=1, w_det=5, w_lane=30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714375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809625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Expected: Lane IoU improvement from 8% to 40-50%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714375" y="302412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809625" y="302508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Deploy on GPU (10-12× speedup expected)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714375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809625" y="339462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Train full 50 epochs (~1 hour vs 6.8 hours)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714375" y="37632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809625" y="376416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Expected: Detection mAP 0.40-0.50 range</a:t>
            </a:r>
            <a:endParaRPr/>
          </a:p>
        </p:txBody>
      </p:sp>
      <p:sp>
        <p:nvSpPr>
          <p:cNvPr id="375" name="Google Shape;375;p25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Uncertainty weighting for automatic loss balancing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Curriculum learning (progressive task introduction)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Task-specific backbones with shared projections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6477000" y="3003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2" name="Google Shape;382;p25"/>
          <p:cNvSpPr txBox="1"/>
          <p:nvPr/>
        </p:nvSpPr>
        <p:spPr>
          <a:xfrm>
            <a:off x="6572250" y="30040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Real-world validation on diverse driving data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12. FUTURE DIRECTIONS &amp; IMPROVEMENTS</a:t>
            </a:r>
            <a:endParaRPr/>
          </a:p>
        </p:txBody>
      </p:sp>
      <p:sp>
        <p:nvSpPr>
          <p:cNvPr id="384" name="Google Shape;384;p25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9" name="Google Shape;3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6"/>
          <p:cNvSpPr txBox="1"/>
          <p:nvPr/>
        </p:nvSpPr>
        <p:spPr>
          <a:xfrm>
            <a:off x="571500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Architecture: Production-Ready</a:t>
            </a:r>
            <a:endParaRPr/>
          </a:p>
        </p:txBody>
      </p:sp>
      <p:sp>
        <p:nvSpPr>
          <p:cNvPr id="391" name="Google Shape;391;p26"/>
          <p:cNvSpPr txBox="1"/>
          <p:nvPr/>
        </p:nvSpPr>
        <p:spPr>
          <a:xfrm>
            <a:off x="571500" y="300409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Classification Task: READY (100% accuracy)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Detection &amp; Lane Tasks: ⚠️ CONDITIONAL</a:t>
            </a:r>
            <a:endParaRPr/>
          </a:p>
        </p:txBody>
      </p:sp>
      <p:sp>
        <p:nvSpPr>
          <p:cNvPr id="393" name="Google Shape;393;p26"/>
          <p:cNvSpPr txBox="1"/>
          <p:nvPr/>
        </p:nvSpPr>
        <p:spPr>
          <a:xfrm>
            <a:off x="6334125" y="300409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Overall Status: RESEARCH-READY</a:t>
            </a:r>
            <a:endParaRPr/>
          </a:p>
        </p:txBody>
      </p:sp>
      <p:sp>
        <p:nvSpPr>
          <p:cNvPr id="394" name="Google Shape;394;p26"/>
          <p:cNvSpPr txBox="1"/>
          <p:nvPr/>
        </p:nvSpPr>
        <p:spPr>
          <a:xfrm>
            <a:off x="6334125" y="342319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Production deployment requires: 50-epoch training + GPU + data expansion</a:t>
            </a:r>
            <a:endParaRPr/>
          </a:p>
        </p:txBody>
      </p:sp>
      <p:sp>
        <p:nvSpPr>
          <p:cNvPr id="395" name="Google Shape;395;p26"/>
          <p:cNvSpPr txBox="1"/>
          <p:nvPr/>
        </p:nvSpPr>
        <p:spPr>
          <a:xfrm>
            <a:off x="714375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809625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Well-designed multi-task framework</a:t>
            </a:r>
            <a:endParaRPr/>
          </a:p>
        </p:txBody>
      </p:sp>
      <p:sp>
        <p:nvSpPr>
          <p:cNvPr id="397" name="Google Shape;397;p26"/>
          <p:cNvSpPr txBox="1"/>
          <p:nvPr/>
        </p:nvSpPr>
        <p:spPr>
          <a:xfrm>
            <a:off x="714375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26"/>
          <p:cNvSpPr txBox="1"/>
          <p:nvPr/>
        </p:nvSpPr>
        <p:spPr>
          <a:xfrm>
            <a:off x="809625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Modular, maintainable codebase</a:t>
            </a:r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714375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809625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Device-agnostic (CPU/GPU)</a:t>
            </a:r>
            <a:endParaRPr/>
          </a:p>
        </p:txBody>
      </p:sp>
      <p:sp>
        <p:nvSpPr>
          <p:cNvPr id="401" name="Google Shape;401;p26"/>
          <p:cNvSpPr txBox="1"/>
          <p:nvPr/>
        </p:nvSpPr>
        <p:spPr>
          <a:xfrm>
            <a:off x="714375" y="339366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809625" y="339462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Excellent generalization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714375" y="376320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809625" y="376416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Robust feature learning</a:t>
            </a:r>
            <a:endParaRPr/>
          </a:p>
        </p:txBody>
      </p:sp>
      <p:sp>
        <p:nvSpPr>
          <p:cNvPr id="405" name="Google Shape;405;p26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Architectures fully functional</a:t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Require extended training for production use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Data quality/quantity improvements needed</a:t>
            </a:r>
            <a:endParaRPr/>
          </a:p>
        </p:txBody>
      </p:sp>
      <p:sp>
        <p:nvSpPr>
          <p:cNvPr id="411" name="Google Shape;411;p2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13. DEPLOYMENT READINESS ASSESSMENT</a:t>
            </a:r>
            <a:endParaRPr/>
          </a:p>
        </p:txBody>
      </p:sp>
      <p:sp>
        <p:nvSpPr>
          <p:cNvPr id="412" name="Google Shape;412;p26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7" name="Google Shape;4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7"/>
          <p:cNvSpPr txBox="1"/>
          <p:nvPr/>
        </p:nvSpPr>
        <p:spPr>
          <a:xfrm>
            <a:off x="571500" y="1504950"/>
            <a:ext cx="5550693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Successfully Demonstrated Multi-Task Learning for Autonomous Driving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571500" y="214312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Key Achievements: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6334125" y="1504950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Research Impact: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714375" y="253269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2" name="Google Shape;422;p27"/>
          <p:cNvSpPr txBox="1"/>
          <p:nvPr/>
        </p:nvSpPr>
        <p:spPr>
          <a:xfrm>
            <a:off x="809625" y="253365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99.98% classification accuracy on 43-class problem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714375" y="290223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809625" y="290319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26% parameter efficiency gains through shared backbone</a:t>
            </a:r>
            <a:endParaRPr/>
          </a:p>
        </p:txBody>
      </p:sp>
      <p:sp>
        <p:nvSpPr>
          <p:cNvPr id="425" name="Google Shape;425;p27"/>
          <p:cNvSpPr txBox="1"/>
          <p:nvPr/>
        </p:nvSpPr>
        <p:spPr>
          <a:xfrm>
            <a:off x="714375" y="3271777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809625" y="327273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Single-pass inference for 3 simultaneous tasks</a:t>
            </a:r>
            <a:endParaRPr/>
          </a:p>
        </p:txBody>
      </p:sp>
      <p:sp>
        <p:nvSpPr>
          <p:cNvPr id="427" name="Google Shape;427;p27"/>
          <p:cNvSpPr txBox="1"/>
          <p:nvPr/>
        </p:nvSpPr>
        <p:spPr>
          <a:xfrm>
            <a:off x="714375" y="364131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809625" y="364227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Stable convergence with proper gradient flow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714375" y="40108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809625" y="4011810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Production-ready codebase (3,600+ lines)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6477000" y="189452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2" name="Google Shape;432;p27"/>
          <p:cNvSpPr txBox="1"/>
          <p:nvPr/>
        </p:nvSpPr>
        <p:spPr>
          <a:xfrm>
            <a:off x="6572250" y="189547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Validates MTL feasibility for autonomous driving</a:t>
            </a:r>
            <a:endParaRPr/>
          </a:p>
        </p:txBody>
      </p:sp>
      <p:sp>
        <p:nvSpPr>
          <p:cNvPr id="433" name="Google Shape;433;p27"/>
          <p:cNvSpPr txBox="1"/>
          <p:nvPr/>
        </p:nvSpPr>
        <p:spPr>
          <a:xfrm>
            <a:off x="6477000" y="22640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4" name="Google Shape;434;p27"/>
          <p:cNvSpPr txBox="1"/>
          <p:nvPr/>
        </p:nvSpPr>
        <p:spPr>
          <a:xfrm>
            <a:off x="6572250" y="22650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Demonstrates parameter sharing effectiveness</a:t>
            </a:r>
            <a:endParaRPr/>
          </a:p>
        </p:txBody>
      </p:sp>
      <p:sp>
        <p:nvSpPr>
          <p:cNvPr id="435" name="Google Shape;435;p27"/>
          <p:cNvSpPr txBox="1"/>
          <p:nvPr/>
        </p:nvSpPr>
        <p:spPr>
          <a:xfrm>
            <a:off x="6477000" y="263360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6" name="Google Shape;436;p27"/>
          <p:cNvSpPr txBox="1"/>
          <p:nvPr/>
        </p:nvSpPr>
        <p:spPr>
          <a:xfrm>
            <a:off x="6572250" y="263455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Identifies data imbalance as key bottleneck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6477000" y="30031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6572250" y="30040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Provides roadmap for optimization</a:t>
            </a:r>
            <a:endParaRPr/>
          </a:p>
        </p:txBody>
      </p:sp>
      <p:sp>
        <p:nvSpPr>
          <p:cNvPr id="439" name="Google Shape;439;p2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14. CONCLUSION</a:t>
            </a:r>
            <a:endParaRPr/>
          </a:p>
        </p:txBody>
      </p:sp>
      <p:sp>
        <p:nvSpPr>
          <p:cNvPr id="440" name="Google Shape;440;p27"/>
          <p:cNvSpPr/>
          <p:nvPr/>
        </p:nvSpPr>
        <p:spPr>
          <a:xfrm>
            <a:off x="571500" y="11334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